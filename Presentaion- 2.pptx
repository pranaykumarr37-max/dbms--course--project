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>
                <a:solidFill>
                  <a:srgbClr val="17243A"/>
                </a:solidFill>
                <a:latin typeface="Aptos"/>
              </a:rPr>
              <a:t>STUDENT ATTENDANCE AND
LEAVE APPROVAL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91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59A9C"/>
                </a:solidFill>
                <a:latin typeface="Aptos"/>
              </a:rPr>
              <a:t>Database Implementation — Schema, Constraints, Queries &amp; Live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1091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D6A7A"/>
                </a:solidFill>
                <a:latin typeface="Aptos"/>
              </a:rPr>
              <a:t>DBMS PROJECT-BASED LEARNING  •  REVIEW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429000"/>
            <a:ext cx="50292" cy="141732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35661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931920"/>
            <a:ext cx="466344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dirty="0">
                <a:solidFill>
                  <a:srgbClr val="5D6A7A"/>
                </a:solidFill>
                <a:latin typeface="Aptos"/>
              </a:rPr>
              <a:t>Pranay Kumar Reddy
Roll Number: [</a:t>
            </a:r>
            <a:r>
              <a:rPr lang="en-US" sz="950" dirty="0">
                <a:solidFill>
                  <a:srgbClr val="5D6A7A"/>
                </a:solidFill>
                <a:latin typeface="Aptos"/>
              </a:rPr>
              <a:t>25WU0102138</a:t>
            </a:r>
            <a:r>
              <a:rPr sz="950" b="0" dirty="0">
                <a:solidFill>
                  <a:srgbClr val="5D6A7A"/>
                </a:solidFill>
                <a:latin typeface="Aptos"/>
              </a:rPr>
              <a:t>]
Class &amp; Section: AIML PANTHERS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342900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06440" y="3429000"/>
            <a:ext cx="50292" cy="141732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71032" y="35661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Academic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3931920"/>
            <a:ext cx="466344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dirty="0">
                <a:solidFill>
                  <a:srgbClr val="5D6A7A"/>
                </a:solidFill>
                <a:latin typeface="Aptos"/>
              </a:rPr>
              <a:t>Course: Database Management Systems
Guide: [</a:t>
            </a:r>
            <a:r>
              <a:rPr lang="en-US" sz="950" dirty="0" err="1">
                <a:solidFill>
                  <a:srgbClr val="5D6A7A"/>
                </a:solidFill>
                <a:latin typeface="Aptos"/>
              </a:rPr>
              <a:t>Dr.Kiranmayee</a:t>
            </a:r>
            <a:r>
              <a:rPr lang="en-US" sz="950" dirty="0">
                <a:solidFill>
                  <a:srgbClr val="5D6A7A"/>
                </a:solidFill>
                <a:latin typeface="Aptos"/>
              </a:rPr>
              <a:t> </a:t>
            </a:r>
            <a:r>
              <a:rPr lang="en-US" sz="950" dirty="0" err="1">
                <a:solidFill>
                  <a:srgbClr val="5D6A7A"/>
                </a:solidFill>
                <a:latin typeface="Aptos"/>
              </a:rPr>
              <a:t>Advala</a:t>
            </a:r>
            <a:r>
              <a:rPr sz="950" b="0" dirty="0">
                <a:solidFill>
                  <a:srgbClr val="5D6A7A"/>
                </a:solidFill>
                <a:latin typeface="Aptos"/>
              </a:rPr>
              <a:t>]
Department of Computer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49240"/>
            <a:ext cx="1091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D6A7A"/>
                </a:solidFill>
                <a:latin typeface="Aptos"/>
              </a:rPr>
              <a:t>Review 2 — Working MySQL database and application-ready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From Design to a Working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59A9C"/>
                </a:solidFill>
                <a:latin typeface="Aptos"/>
              </a:rPr>
              <a:t>Review 1 completed • Review 2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257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0292" cy="42062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5087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Review 1 —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20"/>
            <a:ext cx="4937760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✓ Problem statement, scope &amp; objectives
✓ Users &amp; functional requirements
✓ ER diagram — 5 core entities
✓ Initial relational schema
✓ Database relationships and cardinalities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5257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50292" cy="420624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53912" y="15087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Review 2 — New This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874520"/>
            <a:ext cx="4937760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✓ Schema normalized to 3NF
✓ Full MySQL DDL with PK/FK/CHECK/UNIQUE
✓ 20 students, 15 faculty and academic data
✓ Attendance and leave-request records
✓ Joins, aggregates, subqueries and views
✓ Application-ready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CONCEPTUAL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Final Entity-Relationship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59A9C"/>
                </a:solidFill>
                <a:latin typeface="Aptos"/>
              </a:rPr>
              <a:t>Crow’s Foot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3</a:t>
            </a:r>
          </a:p>
        </p:txBody>
      </p:sp>
      <p:pic>
        <p:nvPicPr>
          <p:cNvPr id="9" name="Picture 8" descr="er2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903720" cy="4602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371600"/>
            <a:ext cx="3886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1371600"/>
            <a:ext cx="50292" cy="109728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08392" y="15087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Core Entities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1874520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STUDENT • ATTENDANCE • SUBJECT
FACULTY • LEAVE_REQUEST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65176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2651760"/>
            <a:ext cx="50292" cy="1874519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8392" y="27889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Key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3154680"/>
            <a:ext cx="3566160" cy="1252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Student 1:N Attendance
Subject 1:N Attendance
Faculty 1:N Subject
Student 1:N Leave Request
Faculty 1:N Leave Approval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709160"/>
            <a:ext cx="3886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43800" y="4709160"/>
            <a:ext cx="50292" cy="914400"/>
          </a:xfrm>
          <a:prstGeom prst="rect">
            <a:avLst/>
          </a:prstGeom>
          <a:solidFill>
            <a:srgbClr val="E29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08392" y="48463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Model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521208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Primary keys identify records; foreign keys connect entities.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1NF → 2NF → 3NF, With a Real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4747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50292" cy="3749039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50876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1NF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74520"/>
            <a:ext cx="3154680" cy="3127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Every attribute is atomic and repeating groups are avoided.
Each attendance event is stored as one row with one date and one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371600"/>
            <a:ext cx="34747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371600"/>
            <a:ext cx="50292" cy="3749039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50876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2NF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74520"/>
            <a:ext cx="3154680" cy="3127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Each project table uses a single-column primary key.
Once 1NF is satisfied, partial dependency is eliminated.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371600"/>
            <a:ext cx="34747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37575" y="1371600"/>
            <a:ext cx="50292" cy="3749039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7" y="150876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3NF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1874520"/>
            <a:ext cx="3154680" cy="3127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Non-key attributes depend directly on the primary key.
Faculty details are stored once in FACULTY instead of being repeated.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091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7243A"/>
                </a:solidFill>
                <a:latin typeface="Aptos"/>
              </a:rPr>
              <a:t>Result: reduced redundancy, improved consistency and clearer foreign-key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Key Functional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59A9C"/>
                </a:solidFill>
                <a:latin typeface="Aptos"/>
              </a:rPr>
              <a:t>Every determinant is the complete primary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965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0292" cy="621792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463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28800"/>
            <a:ext cx="164592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80" y="1453896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5D6A7A"/>
                </a:solidFill>
                <a:latin typeface="Aptos"/>
              </a:rPr>
              <a:t>student_id → name, email, phone, department, semester, date_of_birth, 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84832"/>
            <a:ext cx="1965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084832"/>
            <a:ext cx="50292" cy="621792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2219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Faculty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587752"/>
            <a:ext cx="164592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97480" y="221284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5D6A7A"/>
                </a:solidFill>
                <a:latin typeface="Aptos"/>
              </a:rPr>
              <a:t>faculty_id → name, email, phone, department, designation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843784"/>
            <a:ext cx="1965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2843784"/>
            <a:ext cx="50292" cy="621792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298094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346704"/>
            <a:ext cx="164592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97480" y="2971800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5D6A7A"/>
                </a:solidFill>
                <a:latin typeface="Aptos"/>
              </a:rPr>
              <a:t>subject_id → subject_name, subject_code, faculty_id, credits, department, semester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602736"/>
            <a:ext cx="1965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602736"/>
            <a:ext cx="50292" cy="621792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73989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105656"/>
            <a:ext cx="164592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97480" y="3730752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5D6A7A"/>
                </a:solidFill>
                <a:latin typeface="Aptos"/>
              </a:rPr>
              <a:t>attendance_id → student_id, subject_id, attendance_date, status, remarks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361688"/>
            <a:ext cx="1965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4361688"/>
            <a:ext cx="50292" cy="621792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44988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Leave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4864608"/>
            <a:ext cx="164592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97480" y="4489704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5D6A7A"/>
                </a:solidFill>
                <a:latin typeface="Aptos"/>
              </a:rPr>
              <a:t>leave_id → student_id, start_date, end_date, reason, status, approved_by, applied_on, remarks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91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17243A"/>
                </a:solidFill>
                <a:latin typeface="Aptos"/>
              </a:rPr>
              <a:t>3NF proof: non-key attributes depend on the key, the whole key, and nothing but the key.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Relational Schema — All Core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10881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50292" cy="658368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46304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10561320" cy="36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STUDENT(student_id PK, name, email UK, phone, department, semester, date_of_birth, address)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67128"/>
            <a:ext cx="10881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167128"/>
            <a:ext cx="50292" cy="658368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304288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670048"/>
            <a:ext cx="10561320" cy="36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FACULTY(faculty_id PK, name, email UK, phone, department, designation)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008376"/>
            <a:ext cx="10881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008376"/>
            <a:ext cx="50292" cy="658368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145536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511296"/>
            <a:ext cx="10561320" cy="36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SUBJECT(subject_id PK, subject_name, subject_code UK, faculty_id FK, credits, department, semester)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49624"/>
            <a:ext cx="10881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849624"/>
            <a:ext cx="50292" cy="658368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3986784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352544"/>
            <a:ext cx="10561320" cy="36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ATTENDANCE(attendance_id PK, student_id FK, subject_id FK, attendance_date, status, remarks)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690872"/>
            <a:ext cx="10881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4690872"/>
            <a:ext cx="50292" cy="658368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4828032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193792"/>
            <a:ext cx="10561320" cy="36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LEAVE_REQUEST(leave_id PK, student_id FK, start_date, end_date, reason, status, approved_by FK, applied_on, remarks)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1091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D6A7A"/>
                </a:solidFill>
                <a:latin typeface="Aptos"/>
              </a:rPr>
              <a:t>All foreign-key relationships correspond to the supplied ER diagram.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Data Dictionary — Representative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59A9C"/>
                </a:solidFill>
                <a:latin typeface="Aptos"/>
              </a:rPr>
              <a:t>Attendance and leave-request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0292" cy="434340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50876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20"/>
            <a:ext cx="4983480" cy="3721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attendance_id  | INT | PK | NOT NULL
student_id      | INT | FK | NOT NULL
subject_id      | INT | FK | NOT NULL
attendance_date | DATE | — | NOT NULL
status          | VARCHAR(20) | CHECK | NOT NULL
remarks         | VARCHAR(150) | — | NULL
Status: Present / Absent / Late / Excused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50292" cy="4343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50876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LEAVE_REQUEST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20"/>
            <a:ext cx="4983480" cy="3721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leave_id       | INT | PK | NOT NULL
student_id     | INT | FK | NOT NULL
start_date     | DATE | — | NOT NULL
end_date       | DATE | CHECK | NOT NULL
reason         | VARCHAR(250) | — | NOT NULL
status         | VARCHAR(20) | CHECK | NOT NULL
approved_by    | INT | FK | NULL
applied_on     | DATE | — | NOT NULL
remarks        | VARCHAR(250) | — | NULL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DDL &amp; Integrity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59A9C"/>
                </a:solidFill>
                <a:latin typeface="Aptos"/>
              </a:rPr>
              <a:t>Database rules implemented in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0292" cy="416052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5087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PRIMARY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20"/>
            <a:ext cx="3108960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Unique identifier for every record.
student_id
faculty_id
subject_id
attendance_id
leave_id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37160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50292" cy="416052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15087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FOREIGN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874520"/>
            <a:ext cx="3108960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Connects related tables.
Attendance → Student + Subject
Subject → Faculty
Leave Request → Student + Faculty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37160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09560" y="1371600"/>
            <a:ext cx="50292" cy="416052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15087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1874520"/>
            <a:ext cx="3108960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UNIQUE email / subject code
NOT NULL required fields
CHECK semester / credits
CHECK attendance / leave status
CHECK end_date ≥ start_date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1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17243A"/>
                </a:solidFill>
                <a:latin typeface="Aptos"/>
              </a:rPr>
              <a:t>Integrity constraints prevent invalid and inconsistent academic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Realistic Sample Data 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59A9C"/>
                </a:solidFill>
                <a:latin typeface="Aptos"/>
              </a:rPr>
              <a:t>Populated database for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6420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159A9C"/>
                </a:solidFill>
                <a:latin typeface="Apto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7243A"/>
                </a:solidFill>
                <a:latin typeface="Aptos"/>
              </a:rPr>
              <a:t>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41732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166420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17243A"/>
                </a:solidFill>
                <a:latin typeface="Aptos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267712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7243A"/>
                </a:solidFill>
                <a:latin typeface="Aptos"/>
              </a:rPr>
              <a:t>Faculty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41732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166420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159A9C"/>
                </a:solidFill>
                <a:latin typeface="Aptos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267712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7243A"/>
                </a:solidFill>
                <a:latin typeface="Aptos"/>
              </a:rPr>
              <a:t>Subjects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41732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166420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17243A"/>
                </a:solidFill>
                <a:latin typeface="Aptos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267712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7243A"/>
                </a:solidFill>
                <a:latin typeface="Aptos"/>
              </a:rPr>
              <a:t>Attendance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141732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55480" y="166420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159A9C"/>
                </a:solidFill>
                <a:latin typeface="Aptos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267712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7243A"/>
                </a:solidFill>
                <a:latin typeface="Aptos"/>
              </a:rPr>
              <a:t>Leave Requests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52044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520440"/>
            <a:ext cx="50292" cy="137160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6576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Student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023360"/>
            <a:ext cx="498348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20 named students, including Pranay Kumar Reddy and the other supplied project records.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2044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520440"/>
            <a:ext cx="50292" cy="13716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792" y="36576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Faculty Dataset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023360"/>
            <a:ext cx="498348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15 faculty records used for subject teaching and leave approval.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49240"/>
            <a:ext cx="1091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0">
                <a:solidFill>
                  <a:srgbClr val="5D6A7A"/>
                </a:solidFill>
                <a:latin typeface="Aptos"/>
              </a:rPr>
              <a:t>The populated dataset supports realistic attendance and approval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QUERYING THE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Queries, Aggregation &amp;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59A9C"/>
                </a:solidFill>
                <a:latin typeface="Aptos"/>
              </a:rPr>
              <a:t>Examples for the working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0292" cy="42062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463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JOINs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28800"/>
            <a:ext cx="3108960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Student + Attendance + Subject
Leave Request + Student + Faculty
Faculty + Subject
Purpose: combine normalized data into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32588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50292" cy="420624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1463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828800"/>
            <a:ext cx="3108960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COUNT attendance records
SUM Present / Absent
GROUP BY student
HAVING attendance &lt; 75%
Purpose: attendance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32588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09560" y="1325880"/>
            <a:ext cx="50292" cy="42062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1463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Views &amp; Subqueries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1828800"/>
            <a:ext cx="3108960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Pending leave view
Attendance summary
Students below threshold
Average-based analysis
Purpose: reusable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DATA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Business Rules — Tested &amp; Confirmed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59A9C"/>
                </a:solidFill>
                <a:latin typeface="Aptos"/>
              </a:rPr>
              <a:t>Rules enforced by the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28346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0292" cy="612648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46304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Attendance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28800"/>
            <a:ext cx="25146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435608"/>
            <a:ext cx="5989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0">
                <a:solidFill>
                  <a:srgbClr val="5D6A7A"/>
                </a:solidFill>
                <a:latin typeface="Aptos"/>
              </a:rPr>
              <a:t>Present / Absent / Late / Excused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143560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17243A"/>
                </a:solidFill>
                <a:latin typeface="Aptos"/>
              </a:rPr>
              <a:t>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039112"/>
            <a:ext cx="28346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039112"/>
            <a:ext cx="50292" cy="612648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17627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Leave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2542032"/>
            <a:ext cx="25146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2148840"/>
            <a:ext cx="5989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0">
                <a:solidFill>
                  <a:srgbClr val="5D6A7A"/>
                </a:solidFill>
                <a:latin typeface="Aptos"/>
              </a:rPr>
              <a:t>Pending / Approved / Rejected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14884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17243A"/>
                </a:solidFill>
                <a:latin typeface="Aptos"/>
              </a:rPr>
              <a:t>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752344"/>
            <a:ext cx="28346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2752344"/>
            <a:ext cx="50292" cy="612648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Leave 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255264"/>
            <a:ext cx="25146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2862072"/>
            <a:ext cx="5989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0">
                <a:solidFill>
                  <a:srgbClr val="5D6A7A"/>
                </a:solidFill>
                <a:latin typeface="Aptos"/>
              </a:rPr>
              <a:t>end_date ≥ start_date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862072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17243A"/>
                </a:solidFill>
                <a:latin typeface="Aptos"/>
              </a:rPr>
              <a:t>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465576"/>
            <a:ext cx="28346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3465576"/>
            <a:ext cx="50292" cy="612648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3602736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3968496"/>
            <a:ext cx="25146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11880" y="3575304"/>
            <a:ext cx="5989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0">
                <a:solidFill>
                  <a:srgbClr val="5D6A7A"/>
                </a:solidFill>
                <a:latin typeface="Aptos"/>
              </a:rPr>
              <a:t>Student and faculty emails unique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57530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17243A"/>
                </a:solidFill>
                <a:latin typeface="Aptos"/>
              </a:rPr>
              <a:t>UNIQUE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178808"/>
            <a:ext cx="28346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4178808"/>
            <a:ext cx="50292" cy="612648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" y="431596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Subject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4681728"/>
            <a:ext cx="25146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1880" y="4288536"/>
            <a:ext cx="5989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0">
                <a:solidFill>
                  <a:srgbClr val="5D6A7A"/>
                </a:solidFill>
                <a:latin typeface="Aptos"/>
              </a:rPr>
              <a:t>Each subject code unique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288536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17243A"/>
                </a:solidFill>
                <a:latin typeface="Aptos"/>
              </a:rPr>
              <a:t>UNIQUE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892040"/>
            <a:ext cx="28346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" y="4892040"/>
            <a:ext cx="50292" cy="612648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502920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References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5394960"/>
            <a:ext cx="251460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11880" y="5001768"/>
            <a:ext cx="5989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0">
                <a:solidFill>
                  <a:srgbClr val="5D6A7A"/>
                </a:solidFill>
                <a:latin typeface="Aptos"/>
              </a:rPr>
              <a:t>Invalid IDs rejected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50017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17243A"/>
                </a:solidFill>
                <a:latin typeface="Aptos"/>
              </a:rPr>
              <a:t>FOREIGN 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715000"/>
            <a:ext cx="1091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20" b="1">
                <a:solidFill>
                  <a:srgbClr val="17243A"/>
                </a:solidFill>
                <a:latin typeface="Aptos"/>
              </a:rPr>
              <a:t>These rules make the database reliable before the application layer is added.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59A9C"/>
                </a:solidFill>
                <a:latin typeface="Aptos"/>
              </a:rPr>
              <a:t>LIVE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43A"/>
                </a:solidFill>
                <a:latin typeface="Aptos"/>
              </a:rPr>
              <a:t>Live Database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59A9C"/>
                </a:solidFill>
                <a:latin typeface="Aptos"/>
              </a:rPr>
              <a:t>Demo flow for 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7315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5D6A7A"/>
                </a:solidFill>
                <a:latin typeface="Aptos"/>
              </a:rPr>
              <a:t>Student Attendance &amp; Leave Approval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6160" y="658368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17243A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63040"/>
            <a:ext cx="2240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463040"/>
            <a:ext cx="50292" cy="178308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65960"/>
            <a:ext cx="192024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View attendance
Apply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159A9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63040"/>
            <a:ext cx="2240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1463040"/>
            <a:ext cx="50292" cy="178308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2152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1965960"/>
            <a:ext cx="192024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Tables
PK / FK /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5272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159A9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463040"/>
            <a:ext cx="2240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1463040"/>
            <a:ext cx="50292" cy="178308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Faculty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1965960"/>
            <a:ext cx="192024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Review leave
Approve / Reject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159A9C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1463040"/>
            <a:ext cx="2240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23960" y="1463040"/>
            <a:ext cx="50292" cy="178308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88552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1965960"/>
            <a:ext cx="192024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Attendance
Leave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3886200"/>
            <a:ext cx="9875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886200"/>
            <a:ext cx="50292" cy="1097280"/>
          </a:xfrm>
          <a:prstGeom prst="rect">
            <a:avLst/>
          </a:prstGeom>
          <a:solidFill>
            <a:srgbClr val="159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07592" y="4023360"/>
            <a:ext cx="9555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243A"/>
                </a:solidFill>
                <a:latin typeface="Aptos"/>
              </a:rPr>
              <a:t>Achieved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7592" y="4389120"/>
            <a:ext cx="9555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D6A7A"/>
                </a:solidFill>
                <a:latin typeface="Aptos"/>
              </a:rPr>
              <a:t>A normalized, constraint-enforced MySQL database with populated student/faculty data, attendance tracking and leave approval workflow — ready for the application layer.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10911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7243A"/>
                </a:solidFill>
                <a:latin typeface="Aptos"/>
              </a:rP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1344</Words>
  <Application>Microsoft Office PowerPoint</Application>
  <PresentationFormat>Widescreen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Prabhakar Reddy Mule</dc:creator>
  <cp:keywords/>
  <dc:description>generated using python-pptx</dc:description>
  <cp:lastModifiedBy>Prabhakar Reddy Mule</cp:lastModifiedBy>
  <cp:revision>2</cp:revision>
  <dcterms:created xsi:type="dcterms:W3CDTF">2013-01-27T09:14:16Z</dcterms:created>
  <dcterms:modified xsi:type="dcterms:W3CDTF">2026-10-06T09:20:49Z</dcterms:modified>
  <cp:category/>
</cp:coreProperties>
</file>