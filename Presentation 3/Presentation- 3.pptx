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77" r:id="rId3"/>
    <p:sldId id="278" r:id="rId4"/>
    <p:sldId id="257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2557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MySQL database that replaces manual attendance registers and paper leave slips with five related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functional halves: attendance capture and reporting, and the leave request/approval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objectives, grouped by colour: master data (plum), attendance (teal), leave and reporting (gold).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script drops and recreates the database each run, so it is always safe to re-execute.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JOIN is used for history because a pending request has no approver yet — an INNER JOIN would silently hide those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224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8580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433152"/>
          </a:solidFill>
          <a:ln w="12700">
            <a:solidFill>
              <a:srgbClr val="503E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91440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433152"/>
          </a:solidFill>
          <a:ln w="12700">
            <a:solidFill>
              <a:srgbClr val="503E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52578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433152"/>
          </a:solidFill>
          <a:ln w="12700">
            <a:solidFill>
              <a:srgbClr val="503E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301752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433152"/>
          </a:solidFill>
          <a:ln w="12700">
            <a:solidFill>
              <a:srgbClr val="503E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00200"/>
            <a:ext cx="2260397" cy="301752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600200"/>
            <a:ext cx="2260397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3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COURSE PROJECT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84832"/>
            <a:ext cx="10332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Attendance &amp;</a:t>
            </a:r>
            <a:endParaRPr lang="en-US" sz="4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 Approval System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93192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C9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MySQL relational database for daily attendance tracking, attendance percentage reporting and faculty-approved student leave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7240" y="4846320"/>
            <a:ext cx="2057400" cy="841248"/>
          </a:xfrm>
          <a:prstGeom prst="roundRect">
            <a:avLst>
              <a:gd name="adj" fmla="val 10870"/>
            </a:avLst>
          </a:prstGeom>
          <a:solidFill>
            <a:srgbClr val="433152"/>
          </a:solidFill>
          <a:ln w="12700">
            <a:solidFill>
              <a:srgbClr val="5A456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937760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3309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7A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63240" y="4846320"/>
            <a:ext cx="2057400" cy="841248"/>
          </a:xfrm>
          <a:prstGeom prst="roundRect">
            <a:avLst>
              <a:gd name="adj" fmla="val 10870"/>
            </a:avLst>
          </a:prstGeom>
          <a:solidFill>
            <a:srgbClr val="433152"/>
          </a:solidFill>
          <a:ln w="12700">
            <a:solidFill>
              <a:srgbClr val="5A456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63240" y="4937760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063240" y="53309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7A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49240" y="4846320"/>
            <a:ext cx="2057400" cy="841248"/>
          </a:xfrm>
          <a:prstGeom prst="roundRect">
            <a:avLst>
              <a:gd name="adj" fmla="val 10870"/>
            </a:avLst>
          </a:prstGeom>
          <a:solidFill>
            <a:srgbClr val="433152"/>
          </a:solidFill>
          <a:ln w="12700">
            <a:solidFill>
              <a:srgbClr val="5A456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49240" y="4937760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53309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7A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6080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Pranay Kumar Reddy   ·   Roll No. 25WU0102138   ·   Section: AI&amp;ML Panthers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1E507B-5B46-467D-6CC6-398D74625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355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49B9E0-4C07-01F5-7ADD-028114221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74" y="65314"/>
            <a:ext cx="11986225" cy="679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538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272845" cy="301752"/>
          </a:xfrm>
          <a:prstGeom prst="roundRect">
            <a:avLst>
              <a:gd name="adj" fmla="val 50000"/>
            </a:avLst>
          </a:prstGeom>
          <a:solidFill>
            <a:srgbClr val="6A4A7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38912"/>
            <a:ext cx="1272845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2763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replaces manual attendance registers and paper leave slips with one centralised database. It delivers two major functions.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5257800" cy="352044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670048"/>
            <a:ext cx="566928" cy="566928"/>
          </a:xfrm>
          <a:prstGeom prst="ellipse">
            <a:avLst/>
          </a:prstGeom>
          <a:solidFill>
            <a:srgbClr val="6A4A7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2670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1536192" y="272491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Management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96112" y="3557016"/>
            <a:ext cx="100584" cy="100584"/>
          </a:xfrm>
          <a:prstGeom prst="ellipse">
            <a:avLst/>
          </a:prstGeom>
          <a:solidFill>
            <a:srgbClr val="6A4A7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52144" y="34290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daily student attendance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96112" y="4014216"/>
            <a:ext cx="100584" cy="100584"/>
          </a:xfrm>
          <a:prstGeom prst="ellipse">
            <a:avLst/>
          </a:prstGeom>
          <a:solidFill>
            <a:srgbClr val="6A4A7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52144" y="38862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attendance subject-wise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96112" y="4471416"/>
            <a:ext cx="100584" cy="100584"/>
          </a:xfrm>
          <a:prstGeom prst="ellipse">
            <a:avLst/>
          </a:prstGeom>
          <a:solidFill>
            <a:srgbClr val="6A4A7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52144" y="43434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present and absent students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96112" y="4928616"/>
            <a:ext cx="100584" cy="100584"/>
          </a:xfrm>
          <a:prstGeom prst="ellipse">
            <a:avLst/>
          </a:prstGeom>
          <a:solidFill>
            <a:srgbClr val="6A4A7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52144" y="48006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attendance percentages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96112" y="5385816"/>
            <a:ext cx="100584" cy="100584"/>
          </a:xfrm>
          <a:prstGeom prst="ellipse">
            <a:avLst/>
          </a:prstGeom>
          <a:solidFill>
            <a:srgbClr val="6A4A7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152144" y="52578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students below the required percentage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2377440"/>
            <a:ext cx="5257800" cy="352044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64808" y="2670048"/>
            <a:ext cx="566928" cy="566928"/>
          </a:xfrm>
          <a:prstGeom prst="ellipse">
            <a:avLst/>
          </a:prstGeom>
          <a:solidFill>
            <a:srgbClr val="3E7C7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64808" y="2670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7159752" y="272491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 Management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519672" y="3557016"/>
            <a:ext cx="100584" cy="100584"/>
          </a:xfrm>
          <a:prstGeom prst="ellipse">
            <a:avLst/>
          </a:prstGeom>
          <a:solidFill>
            <a:srgbClr val="3E7C7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75704" y="34290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student leave requests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19672" y="4014216"/>
            <a:ext cx="100584" cy="100584"/>
          </a:xfrm>
          <a:prstGeom prst="ellipse">
            <a:avLst/>
          </a:prstGeom>
          <a:solidFill>
            <a:srgbClr val="3E7C7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75704" y="38862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pending, approved and rejected requests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519672" y="4471416"/>
            <a:ext cx="100584" cy="100584"/>
          </a:xfrm>
          <a:prstGeom prst="ellipse">
            <a:avLst/>
          </a:prstGeom>
          <a:solidFill>
            <a:srgbClr val="3E7C7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75704" y="43434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which faculty processed the request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519672" y="4928616"/>
            <a:ext cx="100584" cy="100584"/>
          </a:xfrm>
          <a:prstGeom prst="ellipse">
            <a:avLst/>
          </a:prstGeom>
          <a:solidFill>
            <a:srgbClr val="3E7C7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75704" y="48006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complete leave history per student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&amp; Leave Approval System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272845" cy="301752"/>
          </a:xfrm>
          <a:prstGeom prst="roundRect">
            <a:avLst>
              <a:gd name="adj" fmla="val 50000"/>
            </a:avLst>
          </a:prstGeom>
          <a:solidFill>
            <a:srgbClr val="6A4A7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38912"/>
            <a:ext cx="1272845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2044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39696"/>
            <a:ext cx="548640" cy="548640"/>
          </a:xfrm>
          <a:prstGeom prst="ellipse">
            <a:avLst/>
          </a:prstGeom>
          <a:solidFill>
            <a:srgbClr val="6A4A7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1396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01168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3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student records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5112" y="1828800"/>
            <a:ext cx="352044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81144" y="2139696"/>
            <a:ext cx="548640" cy="548640"/>
          </a:xfrm>
          <a:prstGeom prst="ellipse">
            <a:avLst/>
          </a:prstGeom>
          <a:solidFill>
            <a:srgbClr val="6A4A7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81144" y="21396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201168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3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faculty records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01584" y="1828800"/>
            <a:ext cx="352044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57616" y="2139696"/>
            <a:ext cx="548640" cy="548640"/>
          </a:xfrm>
          <a:prstGeom prst="ellipse">
            <a:avLst/>
          </a:prstGeom>
          <a:solidFill>
            <a:srgbClr val="6A4A7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57616" y="21396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9034272" y="201168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3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subjects and assigned faculty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218688"/>
            <a:ext cx="352044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3529584"/>
            <a:ext cx="548640" cy="548640"/>
          </a:xfrm>
          <a:prstGeom prst="ellipse">
            <a:avLst/>
          </a:prstGeom>
          <a:solidFill>
            <a:srgbClr val="3E7C7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4672" y="35295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1481328" y="3401568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3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daily attendance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25112" y="3218688"/>
            <a:ext cx="352044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81144" y="3529584"/>
            <a:ext cx="548640" cy="548640"/>
          </a:xfrm>
          <a:prstGeom prst="ellipse">
            <a:avLst/>
          </a:prstGeom>
          <a:solidFill>
            <a:srgbClr val="3E7C7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81144" y="35295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5257800" y="3401568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3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attendance percentages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01584" y="3218688"/>
            <a:ext cx="352044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357616" y="3529584"/>
            <a:ext cx="548640" cy="548640"/>
          </a:xfrm>
          <a:prstGeom prst="ellipse">
            <a:avLst/>
          </a:prstGeom>
          <a:solidFill>
            <a:srgbClr val="3E7C7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357616" y="35295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9034272" y="3401568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3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student leave requests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608576"/>
            <a:ext cx="352044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4672" y="4919472"/>
            <a:ext cx="548640" cy="5486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04672" y="4919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1481328" y="4791456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3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faculty to approve or reject leave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325112" y="4608576"/>
            <a:ext cx="352044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81144" y="4919472"/>
            <a:ext cx="548640" cy="5486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581144" y="4919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900" dirty="0"/>
          </a:p>
        </p:txBody>
      </p:sp>
      <p:sp>
        <p:nvSpPr>
          <p:cNvPr id="36" name="Text 34"/>
          <p:cNvSpPr txBox="1"/>
          <p:nvPr/>
        </p:nvSpPr>
        <p:spPr>
          <a:xfrm>
            <a:off x="5257800" y="4791456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3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record keeping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101584" y="4608576"/>
            <a:ext cx="352044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357616" y="4919472"/>
            <a:ext cx="548640" cy="5486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357616" y="4919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900" dirty="0"/>
          </a:p>
        </p:txBody>
      </p:sp>
      <p:sp>
        <p:nvSpPr>
          <p:cNvPr id="40" name="Text 38"/>
          <p:cNvSpPr txBox="1"/>
          <p:nvPr/>
        </p:nvSpPr>
        <p:spPr>
          <a:xfrm>
            <a:off x="9034272" y="4791456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3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simple SQL queries for reporting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&amp; Leave Approval System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272845" cy="301752"/>
          </a:xfrm>
          <a:prstGeom prst="roundRect">
            <a:avLst>
              <a:gd name="adj" fmla="val 50000"/>
            </a:avLst>
          </a:prstGeom>
          <a:solidFill>
            <a:srgbClr val="6A4A7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38912"/>
            <a:ext cx="1272845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Used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61388" y="2057400"/>
            <a:ext cx="694944" cy="694944"/>
          </a:xfrm>
          <a:prstGeom prst="ellipse">
            <a:avLst/>
          </a:prstGeom>
          <a:solidFill>
            <a:srgbClr val="6A4A7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961388" y="205740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803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10128"/>
            <a:ext cx="2971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engine that stores every table and enforces the keys.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25112" y="178308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37860" y="2057400"/>
            <a:ext cx="694944" cy="694944"/>
          </a:xfrm>
          <a:prstGeom prst="ellipse">
            <a:avLst/>
          </a:prstGeom>
          <a:solidFill>
            <a:srgbClr val="3E7C7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737860" y="205740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507992" y="28803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599432" y="3310128"/>
            <a:ext cx="2971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used for all table creation, inserts, joins and reports.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01584" y="178308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514332" y="2057400"/>
            <a:ext cx="694944" cy="69494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514332" y="205740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284464" y="28803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Workbench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375904" y="3310128"/>
            <a:ext cx="2971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tool used to run the script, inspect tables and view results.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F5F1F8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14400" y="46451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6A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name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49834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22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student_attendance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95604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framework is required for the database version of this project.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&amp; Leave Approval System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272845" cy="301752"/>
          </a:xfrm>
          <a:prstGeom prst="roundRect">
            <a:avLst>
              <a:gd name="adj" fmla="val 50000"/>
            </a:avLst>
          </a:prstGeom>
          <a:solidFill>
            <a:srgbClr val="6A4A7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38912"/>
            <a:ext cx="1272845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Database Tables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984248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A4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404872"/>
            <a:ext cx="30083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and academic details of every enrolled student.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044952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8A82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 student_id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25112" y="178308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81144" y="1984248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A4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faculty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81144" y="2404872"/>
            <a:ext cx="30083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of every faculty member who teaches or approves leave.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81144" y="3044952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8A82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 faculty_id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01584" y="178308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57616" y="1984248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57616" y="2404872"/>
            <a:ext cx="30083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 offered, each linked to the faculty who teaches it.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357616" y="3044952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8A82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 subject_id</a:t>
            </a:r>
            <a:endParaRPr lang="en-US" sz="9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8A82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faculty_id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432304" y="384048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2688336" y="4041648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attendance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688336" y="4462272"/>
            <a:ext cx="30083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student, per subject, per class date.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2688336" y="5102352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8A82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 attendance_id</a:t>
            </a:r>
            <a:endParaRPr lang="en-US" sz="9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8A82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student_id, subject_id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08776" y="384048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464808" y="4041648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leave_request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64808" y="4462272"/>
            <a:ext cx="30083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applications with their approval status.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64808" y="5102352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8A82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 leave_id</a:t>
            </a:r>
            <a:endParaRPr lang="en-US" sz="9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8A82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student_id, approved_by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&amp; Leave Approval System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951683" cy="301752"/>
          </a:xfrm>
          <a:prstGeom prst="roundRect">
            <a:avLst>
              <a:gd name="adj" fmla="val 50000"/>
            </a:avLst>
          </a:prstGeom>
          <a:solidFill>
            <a:srgbClr val="6A4A7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38912"/>
            <a:ext cx="295168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STRUCTURE  ·  1 OF 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 &amp;  faculty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3072384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5440680" cy="420624"/>
          </a:xfrm>
          <a:prstGeom prst="roundRect">
            <a:avLst>
              <a:gd name="adj" fmla="val 17391"/>
            </a:avLst>
          </a:prstGeom>
          <a:solidFill>
            <a:srgbClr val="6A4A7C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93392"/>
            <a:ext cx="5440680" cy="210312"/>
          </a:xfrm>
          <a:prstGeom prst="rect">
            <a:avLst/>
          </a:prstGeom>
          <a:solidFill>
            <a:srgbClr val="6A4A7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8096" y="1783080"/>
            <a:ext cx="5001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203704"/>
            <a:ext cx="22850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A4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student_id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051353" y="2203704"/>
            <a:ext cx="27203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student ID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57784" y="2551176"/>
            <a:ext cx="5422392" cy="347472"/>
          </a:xfrm>
          <a:prstGeom prst="rect">
            <a:avLst/>
          </a:prstGeom>
          <a:solidFill>
            <a:srgbClr val="F5F1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8096" y="2551176"/>
            <a:ext cx="22850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22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051353" y="2551176"/>
            <a:ext cx="27203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68096" y="2898648"/>
            <a:ext cx="22850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22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051353" y="2898648"/>
            <a:ext cx="27203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email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57784" y="3246120"/>
            <a:ext cx="5422392" cy="347472"/>
          </a:xfrm>
          <a:prstGeom prst="rect">
            <a:avLst/>
          </a:prstGeom>
          <a:solidFill>
            <a:srgbClr val="F5F1F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8096" y="3246120"/>
            <a:ext cx="22850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22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051353" y="3246120"/>
            <a:ext cx="27203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phone number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68096" y="3593592"/>
            <a:ext cx="22850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22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051353" y="3593592"/>
            <a:ext cx="27203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department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57784" y="3941064"/>
            <a:ext cx="5422392" cy="347472"/>
          </a:xfrm>
          <a:prstGeom prst="rect">
            <a:avLst/>
          </a:prstGeom>
          <a:solidFill>
            <a:srgbClr val="F5F1F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68096" y="3941064"/>
            <a:ext cx="22850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22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semester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051353" y="3941064"/>
            <a:ext cx="27203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semester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68096" y="4361688"/>
            <a:ext cx="5001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8A82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  student_id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99632" y="178308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99632" y="1783080"/>
            <a:ext cx="5440680" cy="420624"/>
          </a:xfrm>
          <a:prstGeom prst="roundRect">
            <a:avLst>
              <a:gd name="adj" fmla="val 17391"/>
            </a:avLst>
          </a:prstGeom>
          <a:solidFill>
            <a:srgbClr val="3E7C7B"/>
          </a:solidFill>
          <a:ln/>
        </p:spPr>
      </p:sp>
      <p:sp>
        <p:nvSpPr>
          <p:cNvPr id="27" name="Shape 25"/>
          <p:cNvSpPr/>
          <p:nvPr/>
        </p:nvSpPr>
        <p:spPr>
          <a:xfrm>
            <a:off x="6199632" y="1993392"/>
            <a:ext cx="5440680" cy="210312"/>
          </a:xfrm>
          <a:prstGeom prst="rect">
            <a:avLst/>
          </a:prstGeom>
          <a:solidFill>
            <a:srgbClr val="3E7C7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19088" y="1783080"/>
            <a:ext cx="5001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faculty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419088" y="2203704"/>
            <a:ext cx="22850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faculty_id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702345" y="2203704"/>
            <a:ext cx="27203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faculty ID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08776" y="2551176"/>
            <a:ext cx="5422392" cy="347472"/>
          </a:xfrm>
          <a:prstGeom prst="rect">
            <a:avLst/>
          </a:prstGeom>
          <a:solidFill>
            <a:srgbClr val="F5F1F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19088" y="2551176"/>
            <a:ext cx="22850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22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8702345" y="2551176"/>
            <a:ext cx="27203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name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419088" y="2898648"/>
            <a:ext cx="22850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22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02345" y="2898648"/>
            <a:ext cx="27203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email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08776" y="3246120"/>
            <a:ext cx="5422392" cy="347472"/>
          </a:xfrm>
          <a:prstGeom prst="rect">
            <a:avLst/>
          </a:prstGeom>
          <a:solidFill>
            <a:srgbClr val="F5F1F8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419088" y="3246120"/>
            <a:ext cx="22850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22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8702345" y="3246120"/>
            <a:ext cx="27203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department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6419088" y="3666744"/>
            <a:ext cx="5001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8A82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  faculty_id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2578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i="1" dirty="0">
                <a:solidFill>
                  <a:srgbClr val="6A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tables are pure master data — they hold no foreign keys, so they are created and populated first.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&amp; Leave Approval System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951683" cy="301752"/>
          </a:xfrm>
          <a:prstGeom prst="roundRect">
            <a:avLst>
              <a:gd name="adj" fmla="val 50000"/>
            </a:avLst>
          </a:prstGeom>
          <a:solidFill>
            <a:srgbClr val="6A4A7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38912"/>
            <a:ext cx="295168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STRUCTURE  ·  2 OF 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  &amp;  attendance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2029968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5440680" cy="420624"/>
          </a:xfrm>
          <a:prstGeom prst="roundRect">
            <a:avLst>
              <a:gd name="adj" fmla="val 17391"/>
            </a:avLst>
          </a:prstGeom>
          <a:solidFill>
            <a:srgbClr val="3E7C7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93392"/>
            <a:ext cx="5440680" cy="210312"/>
          </a:xfrm>
          <a:prstGeom prst="rect">
            <a:avLst/>
          </a:prstGeom>
          <a:solidFill>
            <a:srgbClr val="3E7C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8096" y="1783080"/>
            <a:ext cx="5001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203704"/>
            <a:ext cx="22850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subject_id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051353" y="2203704"/>
            <a:ext cx="27203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subject ID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57784" y="2551176"/>
            <a:ext cx="5422392" cy="347472"/>
          </a:xfrm>
          <a:prstGeom prst="rect">
            <a:avLst/>
          </a:prstGeom>
          <a:solidFill>
            <a:srgbClr val="F5F1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8096" y="2551176"/>
            <a:ext cx="22850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22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subject_name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051353" y="2551176"/>
            <a:ext cx="27203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of subject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68096" y="2898648"/>
            <a:ext cx="22850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faculty_id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051353" y="2898648"/>
            <a:ext cx="27203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teaching the subject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68096" y="3319272"/>
            <a:ext cx="5001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8A82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  subject_id</a:t>
            </a:r>
            <a:endParaRPr lang="en-US" sz="9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8A82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FOREIGN KEY  faculty_id -&gt; faculty.faculty_id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99632" y="1783080"/>
            <a:ext cx="5440680" cy="2724912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99632" y="1783080"/>
            <a:ext cx="5440680" cy="420624"/>
          </a:xfrm>
          <a:prstGeom prst="roundRect">
            <a:avLst>
              <a:gd name="adj" fmla="val 17391"/>
            </a:avLst>
          </a:prstGeom>
          <a:solidFill>
            <a:srgbClr val="6A4A7C"/>
          </a:solidFill>
          <a:ln/>
        </p:spPr>
      </p:sp>
      <p:sp>
        <p:nvSpPr>
          <p:cNvPr id="19" name="Shape 17"/>
          <p:cNvSpPr/>
          <p:nvPr/>
        </p:nvSpPr>
        <p:spPr>
          <a:xfrm>
            <a:off x="6199632" y="1993392"/>
            <a:ext cx="5440680" cy="210312"/>
          </a:xfrm>
          <a:prstGeom prst="rect">
            <a:avLst/>
          </a:prstGeom>
          <a:solidFill>
            <a:srgbClr val="6A4A7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19088" y="1783080"/>
            <a:ext cx="5001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attendance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19088" y="2203704"/>
            <a:ext cx="22850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A4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attendance_id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702345" y="2203704"/>
            <a:ext cx="27203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attendance record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08776" y="2551176"/>
            <a:ext cx="5422392" cy="347472"/>
          </a:xfrm>
          <a:prstGeom prst="rect">
            <a:avLst/>
          </a:prstGeom>
          <a:solidFill>
            <a:srgbClr val="F5F1F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19088" y="2551176"/>
            <a:ext cx="22850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A4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student_id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02345" y="2551176"/>
            <a:ext cx="27203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being recorded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419088" y="2898648"/>
            <a:ext cx="22850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A4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subject_id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702345" y="2898648"/>
            <a:ext cx="27203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of the class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08776" y="3246120"/>
            <a:ext cx="5422392" cy="347472"/>
          </a:xfrm>
          <a:prstGeom prst="rect">
            <a:avLst/>
          </a:prstGeom>
          <a:solidFill>
            <a:srgbClr val="F5F1F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19088" y="3246120"/>
            <a:ext cx="22850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22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attendance_date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702345" y="3246120"/>
            <a:ext cx="27203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class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419088" y="3593592"/>
            <a:ext cx="22850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22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8702345" y="3593592"/>
            <a:ext cx="27203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or Absent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419088" y="4014216"/>
            <a:ext cx="5001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8A82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  attendance_id</a:t>
            </a:r>
            <a:endParaRPr lang="en-US" sz="9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8A82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FOREIGN KEYS  student_id, subject_id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502920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F5F1F8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868680" y="52303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6A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rule: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2331720" y="523036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(student_id, subject_id, attendance_date) constraint blocks duplicate attendance for the same student in the same subject on the same day.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&amp; Leave Approval System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951683" cy="301752"/>
          </a:xfrm>
          <a:prstGeom prst="roundRect">
            <a:avLst>
              <a:gd name="adj" fmla="val 50000"/>
            </a:avLst>
          </a:prstGeom>
          <a:solidFill>
            <a:srgbClr val="6A4A7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38912"/>
            <a:ext cx="295168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STRUCTURE  ·  3 OF 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leave_request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035040" cy="3419856"/>
          </a:xfrm>
          <a:prstGeom prst="roundRect">
            <a:avLst>
              <a:gd name="adj" fmla="val 2139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6035040" cy="420624"/>
          </a:xfrm>
          <a:prstGeom prst="roundRect">
            <a:avLst>
              <a:gd name="adj" fmla="val 17391"/>
            </a:avLst>
          </a:prstGeom>
          <a:solidFill>
            <a:srgbClr val="D9A44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93392"/>
            <a:ext cx="6035040" cy="210312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8096" y="1783080"/>
            <a:ext cx="5596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2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leave_request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203704"/>
            <a:ext cx="2534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leave_id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324758" y="220370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leave request ID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57784" y="2551176"/>
            <a:ext cx="6016752" cy="347472"/>
          </a:xfrm>
          <a:prstGeom prst="rect">
            <a:avLst/>
          </a:prstGeom>
          <a:solidFill>
            <a:srgbClr val="F5F1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8096" y="2551176"/>
            <a:ext cx="2534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student_id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324758" y="255117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requesting leave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68096" y="2898648"/>
            <a:ext cx="2534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22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start_date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324758" y="289864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starting date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57784" y="3246120"/>
            <a:ext cx="6016752" cy="347472"/>
          </a:xfrm>
          <a:prstGeom prst="rect">
            <a:avLst/>
          </a:prstGeom>
          <a:solidFill>
            <a:srgbClr val="F5F1F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8096" y="3246120"/>
            <a:ext cx="2534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22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end_date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324758" y="32461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ending date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68096" y="3593592"/>
            <a:ext cx="2534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22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324758" y="359359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for leave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57784" y="3941064"/>
            <a:ext cx="6016752" cy="347472"/>
          </a:xfrm>
          <a:prstGeom prst="rect">
            <a:avLst/>
          </a:prstGeom>
          <a:solidFill>
            <a:srgbClr val="F5F1F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68096" y="3941064"/>
            <a:ext cx="2534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22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324758" y="394106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Pending, Approved or Rejected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68096" y="4288536"/>
            <a:ext cx="25347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approved_by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3324758" y="428853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who processed it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68096" y="4709160"/>
            <a:ext cx="5596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8A82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  leave_id</a:t>
            </a:r>
            <a:endParaRPr lang="en-US" sz="9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8A82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FOREIGN KEYS  student_id, approved_by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903720" y="1783080"/>
            <a:ext cx="4736592" cy="1874520"/>
          </a:xfrm>
          <a:prstGeom prst="roundRect">
            <a:avLst>
              <a:gd name="adj" fmla="val 4390"/>
            </a:avLst>
          </a:prstGeom>
          <a:solidFill>
            <a:srgbClr val="F5F1F8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178040" y="1965960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foreign keys, two parents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2377440"/>
            <a:ext cx="4187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4B4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student_id  -&gt;  student.student_id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4B4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approved_by  -&gt;  faculty.faculty_id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3035808"/>
            <a:ext cx="4187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i="1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table records both who asked for leave and who decided on it.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903720" y="3840480"/>
            <a:ext cx="473659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7178040" y="4023360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approved_by allows NULL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4434840"/>
            <a:ext cx="4187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that is still Pending has not been seen by any faculty member yet, so there is no approver to record. The column stays NULL until a decision is made.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&amp; Leave Approval System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272845" cy="301752"/>
          </a:xfrm>
          <a:prstGeom prst="roundRect">
            <a:avLst>
              <a:gd name="adj" fmla="val 50000"/>
            </a:avLst>
          </a:prstGeom>
          <a:solidFill>
            <a:srgbClr val="6A4A7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38912"/>
            <a:ext cx="1272845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22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0" y="1956816"/>
            <a:ext cx="841248" cy="329184"/>
          </a:xfrm>
          <a:prstGeom prst="roundRect">
            <a:avLst>
              <a:gd name="adj" fmla="val 50000"/>
            </a:avLst>
          </a:prstGeom>
          <a:solidFill>
            <a:srgbClr val="6A4A7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43200" y="1956816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712464" y="1737360"/>
            <a:ext cx="2103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22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Attendance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1737360"/>
            <a:ext cx="5486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student can have many attendance records.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596896"/>
            <a:ext cx="11091672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2960" y="259689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22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0" y="2816352"/>
            <a:ext cx="841248" cy="329184"/>
          </a:xfrm>
          <a:prstGeom prst="roundRect">
            <a:avLst>
              <a:gd name="adj" fmla="val 50000"/>
            </a:avLst>
          </a:prstGeom>
          <a:solidFill>
            <a:srgbClr val="3E7C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743200" y="281635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712464" y="2596896"/>
            <a:ext cx="2103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22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Attendance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2596896"/>
            <a:ext cx="5486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subject can have many attendance records.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456432"/>
            <a:ext cx="11091672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22960" y="3456432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22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Faculty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743200" y="3675888"/>
            <a:ext cx="841248" cy="329184"/>
          </a:xfrm>
          <a:prstGeom prst="roundRect">
            <a:avLst>
              <a:gd name="adj" fmla="val 50000"/>
            </a:avLst>
          </a:prstGeom>
          <a:solidFill>
            <a:srgbClr val="3E7C7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743200" y="3675888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3712464" y="3456432"/>
            <a:ext cx="2103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22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943600" y="3456432"/>
            <a:ext cx="5486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faculty member can teach multiple subjects.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315968"/>
            <a:ext cx="11091672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22960" y="431596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22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743200" y="4535424"/>
            <a:ext cx="841248" cy="32918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743200" y="4535424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3712464" y="4315968"/>
            <a:ext cx="2103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22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Leave_Request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943600" y="4315968"/>
            <a:ext cx="5486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student can submit multiple leave requests.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175504"/>
            <a:ext cx="11091672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22960" y="517550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22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Faculty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2743200" y="5394960"/>
            <a:ext cx="841248" cy="32918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2743200" y="539496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712464" y="5175504"/>
            <a:ext cx="2103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22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Leave_Request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5943600" y="5175504"/>
            <a:ext cx="5486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faculty member can process many leave requests.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01675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approved_by column identifies which faculty member processed each request.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&amp; Leave Approval System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66621" cy="301752"/>
          </a:xfrm>
          <a:prstGeom prst="roundRect">
            <a:avLst>
              <a:gd name="adj" fmla="val 50000"/>
            </a:avLst>
          </a:prstGeom>
          <a:solidFill>
            <a:srgbClr val="6A4A7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38912"/>
            <a:ext cx="1766621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7 &amp; 8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Values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 request status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53212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487168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2487168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8895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but not yet processed by any faculty member.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456432"/>
            <a:ext cx="553212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41248" y="3657600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3E7C7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" y="365760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40599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faculty member has accepted the leave request.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626864"/>
            <a:ext cx="553212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4828032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B454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" y="482803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52303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faculty member has rejected the leave request.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173736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status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00800" y="2286000"/>
            <a:ext cx="5239512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93408" y="2487168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3E7C7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93408" y="2487168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693408" y="288950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attended that subject's class on that date.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0" y="3456432"/>
            <a:ext cx="5239512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93408" y="3657600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B4543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93408" y="365760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693408" y="405993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did not attend that class.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0" y="4626864"/>
            <a:ext cx="5239512" cy="1188720"/>
          </a:xfrm>
          <a:prstGeom prst="roundRect">
            <a:avLst>
              <a:gd name="adj" fmla="val 6923"/>
            </a:avLst>
          </a:prstGeom>
          <a:solidFill>
            <a:srgbClr val="F5F1F8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693408" y="4809744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stored as ENUM columns, so MySQL itself rejects any value outside this fixed list.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&amp; Leave Approval System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371600" cy="301752"/>
          </a:xfrm>
          <a:prstGeom prst="roundRect">
            <a:avLst>
              <a:gd name="adj" fmla="val 50000"/>
            </a:avLst>
          </a:prstGeom>
          <a:solidFill>
            <a:srgbClr val="6A4A7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38912"/>
            <a:ext cx="137160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Installation &amp; Setup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974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29968"/>
            <a:ext cx="548640" cy="548640"/>
          </a:xfrm>
          <a:prstGeom prst="ellipse">
            <a:avLst/>
          </a:prstGeom>
          <a:solidFill>
            <a:srgbClr val="6A4A7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697480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MySQL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054096"/>
            <a:ext cx="2185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MySQL Server together with MySQL Workbench.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1783080"/>
            <a:ext cx="26974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85032" y="2029968"/>
            <a:ext cx="548640" cy="548640"/>
          </a:xfrm>
          <a:prstGeom prst="ellipse">
            <a:avLst/>
          </a:prstGeom>
          <a:solidFill>
            <a:srgbClr val="6A4A7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85032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685032" y="2697480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Workbench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85032" y="3054096"/>
            <a:ext cx="2185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your local server and open a new SQL tab.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1783080"/>
            <a:ext cx="26974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65392" y="2029968"/>
            <a:ext cx="548640" cy="548640"/>
          </a:xfrm>
          <a:prstGeom prst="ellipse">
            <a:avLst/>
          </a:prstGeom>
          <a:solidFill>
            <a:srgbClr val="6A4A7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65392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565392" y="2697480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the script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65392" y="3054096"/>
            <a:ext cx="2185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&gt; Open SQL Script and choose student_attendance_leave.sql.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89720" y="1783080"/>
            <a:ext cx="26974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445752" y="2029968"/>
            <a:ext cx="548640" cy="548640"/>
          </a:xfrm>
          <a:prstGeom prst="ellipse">
            <a:avLst/>
          </a:prstGeom>
          <a:solidFill>
            <a:srgbClr val="6A4A7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445752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9445752" y="2697480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 all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445752" y="3054096"/>
            <a:ext cx="2185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the lightning-bolt button, or Ctrl + Shift + Enter.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0690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script then runs automatically, in order: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498848"/>
            <a:ext cx="27432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" y="4672584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32688" y="44988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database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01568" y="4498848"/>
            <a:ext cx="27432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66160" y="4672584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785616" y="44988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the database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54496" y="4498848"/>
            <a:ext cx="27432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19088" y="4672584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638544" y="44988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all five tables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107424" y="4498848"/>
            <a:ext cx="27432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272016" y="4672584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491472" y="44988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primary keys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5084064"/>
            <a:ext cx="27432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3232" y="5257800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32688" y="508406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foreign keys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401568" y="5084064"/>
            <a:ext cx="27432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66160" y="5257800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3785616" y="508406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Inserts faculty, students &amp; subjects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54496" y="5084064"/>
            <a:ext cx="27432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19088" y="5257800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638544" y="508406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Inserts 160 attendance records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107424" y="5084064"/>
            <a:ext cx="27432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272016" y="5257800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9491472" y="508406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Inserts 10 leave requests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&amp; Leave Approval System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371600" cy="301752"/>
          </a:xfrm>
          <a:prstGeom prst="roundRect">
            <a:avLst>
              <a:gd name="adj" fmla="val 50000"/>
            </a:avLst>
          </a:prstGeom>
          <a:solidFill>
            <a:srgbClr val="6A4A7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38912"/>
            <a:ext cx="137160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Queries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SELECT statements to confirm every table loaded correctly.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532120" cy="3291840"/>
          </a:xfrm>
          <a:prstGeom prst="roundRect">
            <a:avLst>
              <a:gd name="adj" fmla="val 2222"/>
            </a:avLst>
          </a:prstGeom>
          <a:solidFill>
            <a:srgbClr val="32243F"/>
          </a:solidFill>
          <a:ln/>
          <a:effectLst>
            <a:outerShdw blurRad="76200" dist="25400" dir="5400000" algn="bl" rotWithShape="0">
              <a:srgbClr val="2A1E35">
                <a:alpha val="16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49808" y="2295144"/>
            <a:ext cx="5129784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View all master data</a:t>
            </a:r>
            <a:endParaRPr lang="en-US" sz="12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E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student;</a:t>
            </a:r>
            <a:endParaRPr lang="en-US" sz="1200" dirty="0"/>
          </a:p>
          <a:p>
            <a:pPr marL="0" indent="0" algn="l">
              <a:lnSpc>
                <a:spcPct val="116000"/>
              </a:lnSpc>
              <a:buNone/>
            </a:pPr>
            <a:endParaRPr lang="en-US" sz="12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E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faculty;</a:t>
            </a:r>
            <a:endParaRPr lang="en-US" sz="1200" dirty="0"/>
          </a:p>
          <a:p>
            <a:pPr marL="0" indent="0" algn="l">
              <a:lnSpc>
                <a:spcPct val="116000"/>
              </a:lnSpc>
              <a:buNone/>
            </a:pPr>
            <a:endParaRPr lang="en-US" sz="12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E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subject;</a:t>
            </a:r>
            <a:endParaRPr lang="en-US" sz="1200" dirty="0"/>
          </a:p>
          <a:p>
            <a:pPr marL="0" indent="0" algn="l">
              <a:lnSpc>
                <a:spcPct val="116000"/>
              </a:lnSpc>
              <a:buNone/>
            </a:pPr>
            <a:endParaRPr lang="en-US" sz="12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View the transaction tables</a:t>
            </a:r>
            <a:endParaRPr lang="en-US" sz="12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E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attendance;</a:t>
            </a:r>
            <a:endParaRPr lang="en-US" sz="1200" dirty="0"/>
          </a:p>
          <a:p>
            <a:pPr marL="0" indent="0" algn="l">
              <a:lnSpc>
                <a:spcPct val="116000"/>
              </a:lnSpc>
              <a:buNone/>
            </a:pPr>
            <a:endParaRPr lang="en-US" sz="12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E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leave_request;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2148840"/>
            <a:ext cx="5330952" cy="1508760"/>
          </a:xfrm>
          <a:prstGeom prst="roundRect">
            <a:avLst>
              <a:gd name="adj" fmla="val 5455"/>
            </a:avLst>
          </a:prstGeom>
          <a:solidFill>
            <a:srgbClr val="F5F1F8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83680" y="2331720"/>
            <a:ext cx="4782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should see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697480"/>
            <a:ext cx="4782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students  ·  4 faculty  ·  5 subjects  ·  160 attendance rows  ·  10 leave requests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3840480"/>
            <a:ext cx="5330952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83680" y="4023360"/>
            <a:ext cx="4782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160 attendance rows?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4389120"/>
            <a:ext cx="4782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students  ×  5 subjects  ×  4 class dates = 160.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data for the percentage and shortage reports to return meaningful results.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&amp; Leave Approval System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371600" cy="301752"/>
          </a:xfrm>
          <a:prstGeom prst="roundRect">
            <a:avLst>
              <a:gd name="adj" fmla="val 50000"/>
            </a:avLst>
          </a:prstGeom>
          <a:solidFill>
            <a:srgbClr val="6A4A7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38912"/>
            <a:ext cx="137160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Reports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720840" cy="2148840"/>
          </a:xfrm>
          <a:prstGeom prst="roundRect">
            <a:avLst>
              <a:gd name="adj" fmla="val 3404"/>
            </a:avLst>
          </a:prstGeom>
          <a:solidFill>
            <a:srgbClr val="32243F"/>
          </a:solidFill>
          <a:ln/>
          <a:effectLst>
            <a:outerShdw blurRad="76200" dist="25400" dir="5400000" algn="bl" rotWithShape="0">
              <a:srgbClr val="2A1E35">
                <a:alpha val="1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49808" y="1837944"/>
            <a:ext cx="631850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Attendance percentage for every student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E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s.name,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E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COUNT(*) AS total_classes,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E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SUM(a.status = 'Present') AS attended,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E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ROUND(SUM(a.status = 'Present')*100.0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E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/ COUNT(*), 2) AS percentage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E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 s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E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attendance a ON s.student_id = a.student_id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E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s.student_id, s.name;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6720840" cy="1965960"/>
          </a:xfrm>
          <a:prstGeom prst="roundRect">
            <a:avLst>
              <a:gd name="adj" fmla="val 3721"/>
            </a:avLst>
          </a:prstGeom>
          <a:solidFill>
            <a:srgbClr val="32243F"/>
          </a:solidFill>
          <a:ln/>
          <a:effectLst>
            <a:outerShdw blurRad="76200" dist="25400" dir="5400000" algn="bl" rotWithShape="0">
              <a:srgbClr val="2A1E35">
                <a:alpha val="1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9808" y="4123944"/>
            <a:ext cx="6318504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Shortage list: below the 75% requirement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E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s.name,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E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ROUND(SUM(a.status='Present')*100.0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E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/ COUNT(*), 2) AS percentage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E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 s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E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attendance a ON s.student_id = a.student_id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E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s.student_id, s.name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E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percentage &lt; 75;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98080" y="1691640"/>
            <a:ext cx="4142232" cy="4251960"/>
          </a:xfrm>
          <a:prstGeom prst="roundRect">
            <a:avLst>
              <a:gd name="adj" fmla="val 1987"/>
            </a:avLst>
          </a:prstGeom>
          <a:solidFill>
            <a:srgbClr val="F5F1F8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0" y="1874520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output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235915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Aarav Sharma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287000" y="23774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3E7C7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287000" y="23774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0" y="27432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Karthik Reddy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287000" y="276148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3E7C7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287000" y="27614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312724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Diya Patel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287000" y="3145536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3E7C7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287000" y="31455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351129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Meera Joshi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0287000" y="3529584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3E7C7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287000" y="352958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0" y="389534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Sneha Nair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287000" y="391363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287000" y="39136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0" y="42793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Verma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0287000" y="429768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B4543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287000" y="42976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0" y="46634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Ananya Iyer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287000" y="468172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B4543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287000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0" y="504748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Vikram Singh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0287000" y="5065776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B4543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287000" y="506577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7772400" y="5468112"/>
            <a:ext cx="3593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students fall below 75% and appear on the shortage list.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&amp; Leave Approval System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371600" cy="301752"/>
          </a:xfrm>
          <a:prstGeom prst="roundRect">
            <a:avLst>
              <a:gd name="adj" fmla="val 50000"/>
            </a:avLst>
          </a:prstGeom>
          <a:solidFill>
            <a:srgbClr val="6A4A7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38912"/>
            <a:ext cx="137160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 Management Queries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32120" cy="2057400"/>
          </a:xfrm>
          <a:prstGeom prst="roundRect">
            <a:avLst>
              <a:gd name="adj" fmla="val 3556"/>
            </a:avLst>
          </a:prstGeom>
          <a:solidFill>
            <a:srgbClr val="32243F"/>
          </a:solidFill>
          <a:ln/>
          <a:effectLst>
            <a:outerShdw blurRad="76200" dist="25400" dir="5400000" algn="bl" rotWithShape="0">
              <a:srgbClr val="2A1E35">
                <a:alpha val="1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49808" y="1837944"/>
            <a:ext cx="5129784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Requests still waiting for a decision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E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l.leave_id, s.name,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E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l.start_date, l.end_date, l.reason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E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leave_request l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E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student s ON l.student_id = s.student_id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E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l.status = 'Pending';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09360" y="1691640"/>
            <a:ext cx="5330952" cy="2057400"/>
          </a:xfrm>
          <a:prstGeom prst="roundRect">
            <a:avLst>
              <a:gd name="adj" fmla="val 3556"/>
            </a:avLst>
          </a:prstGeom>
          <a:solidFill>
            <a:srgbClr val="32243F"/>
          </a:solidFill>
          <a:ln/>
          <a:effectLst>
            <a:outerShdw blurRad="76200" dist="25400" dir="5400000" algn="bl" rotWithShape="0">
              <a:srgbClr val="2A1E35">
                <a:alpha val="1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10528" y="1837944"/>
            <a:ext cx="4928616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Approve a request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E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leave_request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E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   status = 'Approved',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E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approved_by = 101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E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 leave_id = 2;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5532120" cy="2057400"/>
          </a:xfrm>
          <a:prstGeom prst="roundRect">
            <a:avLst>
              <a:gd name="adj" fmla="val 3556"/>
            </a:avLst>
          </a:prstGeom>
          <a:solidFill>
            <a:srgbClr val="32243F"/>
          </a:solidFill>
          <a:ln/>
          <a:effectLst>
            <a:outerShdw blurRad="76200" dist="25400" dir="5400000" algn="bl" rotWithShape="0">
              <a:srgbClr val="2A1E35">
                <a:alpha val="16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49808" y="4032504"/>
            <a:ext cx="5129784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Reject a request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E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leave_request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E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   status = 'Rejected',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E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approved_by = 102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E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 leave_id = 6;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3886200"/>
            <a:ext cx="5330952" cy="2057400"/>
          </a:xfrm>
          <a:prstGeom prst="roundRect">
            <a:avLst>
              <a:gd name="adj" fmla="val 3556"/>
            </a:avLst>
          </a:prstGeom>
          <a:solidFill>
            <a:srgbClr val="32243F"/>
          </a:solidFill>
          <a:ln/>
          <a:effectLst>
            <a:outerShdw blurRad="76200" dist="25400" dir="5400000" algn="bl" rotWithShape="0">
              <a:srgbClr val="2A1E35">
                <a:alpha val="16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10528" y="4032504"/>
            <a:ext cx="4928616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Full leave history with approver</a:t>
            </a:r>
            <a:endParaRPr lang="en-US" sz="10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E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s.name, l.start_date, l.end_date,</a:t>
            </a:r>
            <a:endParaRPr lang="en-US" sz="10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E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l.reason, l.status, f.name</a:t>
            </a:r>
            <a:endParaRPr lang="en-US" sz="10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E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leave_request l</a:t>
            </a:r>
            <a:endParaRPr lang="en-US" sz="10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E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student s ON l.student_id=s.student_id</a:t>
            </a:r>
            <a:endParaRPr lang="en-US" sz="10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E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faculty f</a:t>
            </a:r>
            <a:endParaRPr lang="en-US" sz="10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E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ON l.approved_by = f.faculty_id;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&amp; Leave Approval System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371600" cy="301752"/>
          </a:xfrm>
          <a:prstGeom prst="roundRect">
            <a:avLst>
              <a:gd name="adj" fmla="val 50000"/>
            </a:avLst>
          </a:prstGeom>
          <a:solidFill>
            <a:srgbClr val="6A4A7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38912"/>
            <a:ext cx="137160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14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Workflow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25780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993392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Recording attendance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2578608"/>
            <a:ext cx="384048" cy="384048"/>
          </a:xfrm>
          <a:prstGeom prst="ellipse">
            <a:avLst/>
          </a:prstGeom>
          <a:solidFill>
            <a:srgbClr val="6A4A7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560320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opens the class session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60704" y="2962656"/>
            <a:ext cx="9144" cy="265176"/>
          </a:xfrm>
          <a:prstGeom prst="line">
            <a:avLst/>
          </a:prstGeom>
          <a:noFill/>
          <a:ln w="19050">
            <a:solidFill>
              <a:srgbClr val="E2D9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3227832"/>
            <a:ext cx="384048" cy="384048"/>
          </a:xfrm>
          <a:prstGeom prst="ellipse">
            <a:avLst/>
          </a:prstGeom>
          <a:solidFill>
            <a:srgbClr val="6A4A7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209544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marks each student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60704" y="3611880"/>
            <a:ext cx="9144" cy="265176"/>
          </a:xfrm>
          <a:prstGeom prst="line">
            <a:avLst/>
          </a:prstGeom>
          <a:noFill/>
          <a:ln w="19050">
            <a:solidFill>
              <a:srgbClr val="E2D9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877056"/>
            <a:ext cx="384048" cy="384048"/>
          </a:xfrm>
          <a:prstGeom prst="ellipse">
            <a:avLst/>
          </a:prstGeom>
          <a:solidFill>
            <a:srgbClr val="6A4A7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858768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record is created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060704" y="4261104"/>
            <a:ext cx="9144" cy="265176"/>
          </a:xfrm>
          <a:prstGeom prst="line">
            <a:avLst/>
          </a:prstGeom>
          <a:noFill/>
          <a:ln w="19050">
            <a:solidFill>
              <a:srgbClr val="E2D9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4526280"/>
            <a:ext cx="384048" cy="384048"/>
          </a:xfrm>
          <a:prstGeom prst="ellipse">
            <a:avLst/>
          </a:prstGeom>
          <a:solidFill>
            <a:srgbClr val="6A4A7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507992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stored in the attendance table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060704" y="4910328"/>
            <a:ext cx="9144" cy="265176"/>
          </a:xfrm>
          <a:prstGeom prst="line">
            <a:avLst/>
          </a:prstGeom>
          <a:noFill/>
          <a:ln w="19050">
            <a:solidFill>
              <a:srgbClr val="E2D9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5175504"/>
            <a:ext cx="384048" cy="384048"/>
          </a:xfrm>
          <a:prstGeom prst="ellipse">
            <a:avLst/>
          </a:prstGeom>
          <a:solidFill>
            <a:srgbClr val="6A4A7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8680" y="5175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5157216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report is generated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382512" y="1783080"/>
            <a:ext cx="525780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702552" y="1993392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Approving leave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702552" y="2578608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02552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251192" y="2560320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submits a leave request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894576" y="2962656"/>
            <a:ext cx="9144" cy="265176"/>
          </a:xfrm>
          <a:prstGeom prst="line">
            <a:avLst/>
          </a:prstGeom>
          <a:noFill/>
          <a:ln w="19050">
            <a:solidFill>
              <a:srgbClr val="E2D9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02552" y="3227832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702552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251192" y="3209544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status is set to Pending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894576" y="3611880"/>
            <a:ext cx="9144" cy="265176"/>
          </a:xfrm>
          <a:prstGeom prst="line">
            <a:avLst/>
          </a:prstGeom>
          <a:noFill/>
          <a:ln w="19050">
            <a:solidFill>
              <a:srgbClr val="E2D9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02552" y="3877056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702552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251192" y="3858768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reviews the request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894576" y="4261104"/>
            <a:ext cx="9144" cy="265176"/>
          </a:xfrm>
          <a:prstGeom prst="line">
            <a:avLst/>
          </a:prstGeom>
          <a:noFill/>
          <a:ln w="19050">
            <a:solidFill>
              <a:srgbClr val="E2D9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02552" y="4526280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702552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7251192" y="4507992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approves or rejects it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894576" y="4910328"/>
            <a:ext cx="9144" cy="265176"/>
          </a:xfrm>
          <a:prstGeom prst="line">
            <a:avLst/>
          </a:prstGeom>
          <a:noFill/>
          <a:ln w="19050">
            <a:solidFill>
              <a:srgbClr val="E2D9E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02552" y="5175504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702552" y="5175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7251192" y="5157216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and approved_by are updated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&amp; Leave Approval System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371600" cy="301752"/>
          </a:xfrm>
          <a:prstGeom prst="roundRect">
            <a:avLst>
              <a:gd name="adj" fmla="val 50000"/>
            </a:avLst>
          </a:prstGeom>
          <a:solidFill>
            <a:srgbClr val="6A4A7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38912"/>
            <a:ext cx="137160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15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Use Case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642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Aarav Sharma applies for two days of medical leave.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12848"/>
            <a:ext cx="475488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450592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2450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98094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298094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22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Aarav Sharma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339242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date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377440" y="339242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22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2026-09-10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380390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date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380390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22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2026-09-11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421538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377440" y="42153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22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Medical reason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462686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by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2377440" y="462686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22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824728" y="3447288"/>
            <a:ext cx="548640" cy="548640"/>
          </a:xfrm>
          <a:prstGeom prst="ellipse">
            <a:avLst/>
          </a:prstGeom>
          <a:solidFill>
            <a:srgbClr val="6A4A7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824728" y="3447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885432" y="2212848"/>
            <a:ext cx="4754880" cy="3017520"/>
          </a:xfrm>
          <a:prstGeom prst="roundRect">
            <a:avLst>
              <a:gd name="adj" fmla="val 2727"/>
            </a:avLst>
          </a:prstGeom>
          <a:solidFill>
            <a:srgbClr val="F5F1F8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78040" y="2450592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3E7C7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78040" y="2450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298094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714232" y="298094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22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Aarav Sharma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339242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date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714232" y="339242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22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2026-09-10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380390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date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714232" y="380390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22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2026-09-11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421538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8714232" y="42153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22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Medical reason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462686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by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714232" y="462686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3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Dr. Amit Sharma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376672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32243F"/>
          </a:solidFill>
          <a:ln/>
          <a:effectLst>
            <a:outerShdw blurRad="76200" dist="25400" dir="5400000" algn="bl" rotWithShape="0">
              <a:srgbClr val="2A1E35">
                <a:alpha val="16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749808" y="5522976"/>
            <a:ext cx="10689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EDE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leave_request SET status = 'Approved', approved_by = 101 WHERE leave_id = 1;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&amp; Leave Approval System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371600" cy="301752"/>
          </a:xfrm>
          <a:prstGeom prst="roundRect">
            <a:avLst>
              <a:gd name="adj" fmla="val 50000"/>
            </a:avLst>
          </a:prstGeom>
          <a:solidFill>
            <a:srgbClr val="6A4A7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38912"/>
            <a:ext cx="137160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16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493776" cy="493776"/>
          </a:xfrm>
          <a:prstGeom prst="ellipse">
            <a:avLst/>
          </a:prstGeom>
          <a:solidFill>
            <a:srgbClr val="6A4A7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574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5176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design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8094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five-table relational model that is easy to explain and defend.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25112" y="178308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9432" y="2057400"/>
            <a:ext cx="493776" cy="493776"/>
          </a:xfrm>
          <a:prstGeom prst="ellipse">
            <a:avLst/>
          </a:prstGeom>
          <a:solidFill>
            <a:srgbClr val="3E7C7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99432" y="20574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265176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manual work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99432" y="298094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paper registers and handwritten leave slips.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01584" y="178308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75904" y="2057400"/>
            <a:ext cx="493776" cy="49377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75904" y="20574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75904" y="265176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Centralised leave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8375904" y="298094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and decision lives in one table.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758184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4032504"/>
            <a:ext cx="493776" cy="493776"/>
          </a:xfrm>
          <a:prstGeom prst="ellipse">
            <a:avLst/>
          </a:prstGeom>
          <a:solidFill>
            <a:srgbClr val="6A4A7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40325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626864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reporting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9560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percentages are calculated by a single query.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25112" y="3758184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99432" y="4032504"/>
            <a:ext cx="493776" cy="493776"/>
          </a:xfrm>
          <a:prstGeom prst="ellipse">
            <a:avLst/>
          </a:prstGeom>
          <a:solidFill>
            <a:srgbClr val="3E7C7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99432" y="40325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4599432" y="4626864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consistency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4599432" y="49560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and foreign keys prevent orphaned records.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01584" y="3758184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75904" y="4032504"/>
            <a:ext cx="493776" cy="49377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375904" y="40325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8375904" y="4626864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Extensible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8375904" y="49560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grow into a full web or mobile application.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&amp; Leave Approval System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371600" cy="301752"/>
          </a:xfrm>
          <a:prstGeom prst="roundRect">
            <a:avLst>
              <a:gd name="adj" fmla="val 50000"/>
            </a:avLst>
          </a:prstGeom>
          <a:solidFill>
            <a:srgbClr val="6A4A7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38912"/>
            <a:ext cx="137160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17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20440" cy="384048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29968"/>
            <a:ext cx="512064" cy="512064"/>
          </a:xfrm>
          <a:prstGeom prst="ellipse">
            <a:avLst/>
          </a:prstGeom>
          <a:solidFill>
            <a:srgbClr val="6A4A7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29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08483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access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59536" y="2907792"/>
            <a:ext cx="100584" cy="100584"/>
          </a:xfrm>
          <a:prstGeom prst="ellipse">
            <a:avLst/>
          </a:prstGeom>
          <a:solidFill>
            <a:srgbClr val="6A4A7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15568" y="2770632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Student, faculty and admin login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59536" y="3566160"/>
            <a:ext cx="100584" cy="100584"/>
          </a:xfrm>
          <a:prstGeom prst="ellipse">
            <a:avLst/>
          </a:prstGeom>
          <a:solidFill>
            <a:srgbClr val="6A4A7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15568" y="342900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59536" y="4224528"/>
            <a:ext cx="100584" cy="100584"/>
          </a:xfrm>
          <a:prstGeom prst="ellipse">
            <a:avLst/>
          </a:prstGeom>
          <a:solidFill>
            <a:srgbClr val="6A4A7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15568" y="4087368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authentication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59536" y="4882896"/>
            <a:ext cx="100584" cy="100584"/>
          </a:xfrm>
          <a:prstGeom prst="ellipse">
            <a:avLst/>
          </a:prstGeom>
          <a:solidFill>
            <a:srgbClr val="6A4A7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15568" y="4745736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25112" y="1783080"/>
            <a:ext cx="3520440" cy="384048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99432" y="2029968"/>
            <a:ext cx="512064" cy="512064"/>
          </a:xfrm>
          <a:prstGeom prst="ellipse">
            <a:avLst/>
          </a:prstGeom>
          <a:solidFill>
            <a:srgbClr val="3E7C7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99432" y="2029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239512" y="208483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636008" y="2907792"/>
            <a:ext cx="100584" cy="100584"/>
          </a:xfrm>
          <a:prstGeom prst="ellipse">
            <a:avLst/>
          </a:prstGeom>
          <a:solidFill>
            <a:srgbClr val="3E7C7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92040" y="2770632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36008" y="3566160"/>
            <a:ext cx="100584" cy="100584"/>
          </a:xfrm>
          <a:prstGeom prst="ellipse">
            <a:avLst/>
          </a:prstGeom>
          <a:solidFill>
            <a:srgbClr val="3E7C7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892040" y="342900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document uploads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36008" y="4224528"/>
            <a:ext cx="100584" cy="100584"/>
          </a:xfrm>
          <a:prstGeom prst="ellipse">
            <a:avLst/>
          </a:prstGeom>
          <a:solidFill>
            <a:srgbClr val="3E7C7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892040" y="4087368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percentage alerts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636008" y="4882896"/>
            <a:ext cx="100584" cy="100584"/>
          </a:xfrm>
          <a:prstGeom prst="ellipse">
            <a:avLst/>
          </a:prstGeom>
          <a:solidFill>
            <a:srgbClr val="3E7C7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892040" y="4745736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faculty approvals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01584" y="1783080"/>
            <a:ext cx="3520440" cy="384048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75904" y="2029968"/>
            <a:ext cx="512064" cy="51206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75904" y="2029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9015984" y="208483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&amp; reach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412480" y="2907792"/>
            <a:ext cx="100584" cy="10058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668512" y="2770632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attendance reports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412480" y="3566160"/>
            <a:ext cx="100584" cy="10058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668512" y="342900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and charts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412480" y="4224528"/>
            <a:ext cx="100584" cy="10058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668512" y="4087368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Department-wise reports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412480" y="4882896"/>
            <a:ext cx="100584" cy="10058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668512" y="4745736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web &amp; mobile apps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&amp; Leave Approval System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371600" cy="301752"/>
          </a:xfrm>
          <a:prstGeom prst="roundRect">
            <a:avLst>
              <a:gd name="adj" fmla="val 50000"/>
            </a:avLst>
          </a:prstGeom>
          <a:solidFill>
            <a:srgbClr val="6A4A7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38912"/>
            <a:ext cx="137160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18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Application Architecture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6420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project delivers the database layer. A full-stack build would add two layers above it, without changing the core schema.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828800" y="2331720"/>
            <a:ext cx="8531352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148840" y="2587752"/>
            <a:ext cx="530352" cy="530352"/>
          </a:xfrm>
          <a:prstGeom prst="ellipse">
            <a:avLst/>
          </a:prstGeom>
          <a:solidFill>
            <a:srgbClr val="6A4A7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148840" y="25877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25146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/ Mobile Frontend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286207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screens students and faculty actually use.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235440" y="2679192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D8D0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235440" y="267919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9904" y="3383280"/>
            <a:ext cx="9144" cy="256032"/>
          </a:xfrm>
          <a:prstGeom prst="line">
            <a:avLst/>
          </a:prstGeom>
          <a:noFill/>
          <a:ln w="22225">
            <a:solidFill>
              <a:srgbClr val="6A4A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0" y="3639312"/>
            <a:ext cx="8531352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148840" y="3895344"/>
            <a:ext cx="530352" cy="530352"/>
          </a:xfrm>
          <a:prstGeom prst="ellipse">
            <a:avLst/>
          </a:prstGeom>
          <a:solidFill>
            <a:srgbClr val="3E7C7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148840" y="38953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2834640" y="38221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 Backend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2834640" y="4169664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rules, validation and authentication. Java Spring Boot is a natural fit.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235440" y="3986784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D8D0E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35440" y="39867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89904" y="4690872"/>
            <a:ext cx="9144" cy="256032"/>
          </a:xfrm>
          <a:prstGeom prst="line">
            <a:avLst/>
          </a:prstGeom>
          <a:noFill/>
          <a:ln w="22225">
            <a:solidFill>
              <a:srgbClr val="6A4A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0" y="4946904"/>
            <a:ext cx="8531352" cy="1051560"/>
          </a:xfrm>
          <a:prstGeom prst="roundRect">
            <a:avLst>
              <a:gd name="adj" fmla="val 7826"/>
            </a:avLst>
          </a:prstGeom>
          <a:solidFill>
            <a:srgbClr val="F5F1F8"/>
          </a:solidFill>
          <a:ln w="12700">
            <a:solidFill>
              <a:srgbClr val="E2D9EA"/>
            </a:solidFill>
            <a:prstDash val="solid"/>
          </a:ln>
          <a:effectLst>
            <a:outerShdw blurRad="76200" dist="25400" dir="5400000" algn="bl" rotWithShape="0">
              <a:srgbClr val="2A1E35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148840" y="5202936"/>
            <a:ext cx="530352" cy="53035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148840" y="52029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2834640" y="51297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2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Database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2834640" y="5477256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B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tables, keys, constraints and reporting queries built in this project.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235440" y="5294376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3E7C7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235440" y="529437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&amp; Leave Approval System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224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371600" cy="301752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66928"/>
            <a:ext cx="137160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32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20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2412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450" dirty="0">
                <a:solidFill>
                  <a:srgbClr val="C9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provides a simple relational database solution for managing student attendance and leave applications, and can serve as the foundation for a larger college management application.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8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concepts demonstrated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2670048" cy="457200"/>
          </a:xfrm>
          <a:prstGeom prst="roundRect">
            <a:avLst>
              <a:gd name="adj" fmla="val 16000"/>
            </a:avLst>
          </a:prstGeom>
          <a:solidFill>
            <a:srgbClr val="433152"/>
          </a:solidFill>
          <a:ln w="12700">
            <a:solidFill>
              <a:srgbClr val="503E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465576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42416" y="329184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C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creation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38144" y="3291840"/>
            <a:ext cx="2670048" cy="457200"/>
          </a:xfrm>
          <a:prstGeom prst="roundRect">
            <a:avLst>
              <a:gd name="adj" fmla="val 16000"/>
            </a:avLst>
          </a:prstGeom>
          <a:solidFill>
            <a:srgbClr val="433152"/>
          </a:solidFill>
          <a:ln w="12700">
            <a:solidFill>
              <a:srgbClr val="503E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21024" y="3465576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40480" y="329184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C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creation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36208" y="3291840"/>
            <a:ext cx="2670048" cy="457200"/>
          </a:xfrm>
          <a:prstGeom prst="roundRect">
            <a:avLst>
              <a:gd name="adj" fmla="val 16000"/>
            </a:avLst>
          </a:prstGeom>
          <a:solidFill>
            <a:srgbClr val="433152"/>
          </a:solidFill>
          <a:ln w="12700">
            <a:solidFill>
              <a:srgbClr val="503E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19088" y="3465576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38544" y="329184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C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34272" y="3291840"/>
            <a:ext cx="2670048" cy="457200"/>
          </a:xfrm>
          <a:prstGeom prst="roundRect">
            <a:avLst>
              <a:gd name="adj" fmla="val 16000"/>
            </a:avLst>
          </a:prstGeom>
          <a:solidFill>
            <a:srgbClr val="433152"/>
          </a:solidFill>
          <a:ln w="12700">
            <a:solidFill>
              <a:srgbClr val="503E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17152" y="3465576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36608" y="329184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C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877056"/>
            <a:ext cx="2670048" cy="457200"/>
          </a:xfrm>
          <a:prstGeom prst="roundRect">
            <a:avLst>
              <a:gd name="adj" fmla="val 16000"/>
            </a:avLst>
          </a:prstGeom>
          <a:solidFill>
            <a:srgbClr val="433152"/>
          </a:solidFill>
          <a:ln w="12700">
            <a:solidFill>
              <a:srgbClr val="503E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050792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42416" y="3877056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C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 relationships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38144" y="3877056"/>
            <a:ext cx="2670048" cy="457200"/>
          </a:xfrm>
          <a:prstGeom prst="roundRect">
            <a:avLst>
              <a:gd name="adj" fmla="val 16000"/>
            </a:avLst>
          </a:prstGeom>
          <a:solidFill>
            <a:srgbClr val="433152"/>
          </a:solidFill>
          <a:ln w="12700">
            <a:solidFill>
              <a:srgbClr val="503E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21024" y="4050792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840480" y="3877056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C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operations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36208" y="3877056"/>
            <a:ext cx="2670048" cy="457200"/>
          </a:xfrm>
          <a:prstGeom prst="roundRect">
            <a:avLst>
              <a:gd name="adj" fmla="val 16000"/>
            </a:avLst>
          </a:prstGeom>
          <a:solidFill>
            <a:srgbClr val="433152"/>
          </a:solidFill>
          <a:ln w="12700">
            <a:solidFill>
              <a:srgbClr val="503E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19088" y="4050792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638544" y="3877056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C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queries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034272" y="3877056"/>
            <a:ext cx="2670048" cy="457200"/>
          </a:xfrm>
          <a:prstGeom prst="roundRect">
            <a:avLst>
              <a:gd name="adj" fmla="val 16000"/>
            </a:avLst>
          </a:prstGeom>
          <a:solidFill>
            <a:srgbClr val="433152"/>
          </a:solidFill>
          <a:ln w="12700">
            <a:solidFill>
              <a:srgbClr val="503E6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17152" y="4050792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436608" y="3877056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C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operations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4462272"/>
            <a:ext cx="2670048" cy="457200"/>
          </a:xfrm>
          <a:prstGeom prst="roundRect">
            <a:avLst>
              <a:gd name="adj" fmla="val 16000"/>
            </a:avLst>
          </a:prstGeom>
          <a:solidFill>
            <a:srgbClr val="433152"/>
          </a:solidFill>
          <a:ln w="12700">
            <a:solidFill>
              <a:srgbClr val="503E6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" y="4636008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042416" y="446227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C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operations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438144" y="4462272"/>
            <a:ext cx="2670048" cy="457200"/>
          </a:xfrm>
          <a:prstGeom prst="roundRect">
            <a:avLst>
              <a:gd name="adj" fmla="val 16000"/>
            </a:avLst>
          </a:prstGeom>
          <a:solidFill>
            <a:srgbClr val="433152"/>
          </a:solidFill>
          <a:ln w="12700">
            <a:solidFill>
              <a:srgbClr val="503E6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21024" y="4636008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3840480" y="446227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C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36208" y="4462272"/>
            <a:ext cx="2670048" cy="457200"/>
          </a:xfrm>
          <a:prstGeom prst="roundRect">
            <a:avLst>
              <a:gd name="adj" fmla="val 16000"/>
            </a:avLst>
          </a:prstGeom>
          <a:solidFill>
            <a:srgbClr val="433152"/>
          </a:solidFill>
          <a:ln w="12700">
            <a:solidFill>
              <a:srgbClr val="503E6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19088" y="4636008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638544" y="446227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C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034272" y="4462272"/>
            <a:ext cx="2670048" cy="457200"/>
          </a:xfrm>
          <a:prstGeom prst="roundRect">
            <a:avLst>
              <a:gd name="adj" fmla="val 16000"/>
            </a:avLst>
          </a:prstGeom>
          <a:solidFill>
            <a:srgbClr val="433152"/>
          </a:solidFill>
          <a:ln w="12700">
            <a:solidFill>
              <a:srgbClr val="503E6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217152" y="4636008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436608" y="446227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C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640080" y="5349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44" name="Text 42"/>
          <p:cNvSpPr txBox="1"/>
          <p:nvPr/>
        </p:nvSpPr>
        <p:spPr>
          <a:xfrm>
            <a:off x="640080" y="5897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Pranay Kumar Reddy   ·   25WU0102138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C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&amp; Leave Approval System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C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2132</Words>
  <Application>Microsoft Office PowerPoint</Application>
  <PresentationFormat>Widescreen</PresentationFormat>
  <Paragraphs>488</Paragraphs>
  <Slides>22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Attendance &amp; Leave Approval System</dc:title>
  <dc:subject>PptxGenJS Presentation</dc:subject>
  <dc:creator>M. Pranay Kumar Reddy</dc:creator>
  <cp:lastModifiedBy>Prabhakar Reddy Mule</cp:lastModifiedBy>
  <cp:revision>2</cp:revision>
  <dcterms:created xsi:type="dcterms:W3CDTF">2026-09-21T06:26:59Z</dcterms:created>
  <dcterms:modified xsi:type="dcterms:W3CDTF">2026-10-06T09:24:40Z</dcterms:modified>
</cp:coreProperties>
</file>